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Space Grotesk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010828-49A2-4FB1-A70B-26CADEDC26C9}">
  <a:tblStyle styleId="{76010828-49A2-4FB1-A70B-26CADEDC26C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SpaceGrotesk-regular.fntdata"/><Relationship Id="rId25" Type="http://schemas.openxmlformats.org/officeDocument/2006/relationships/font" Target="fonts/Inter-boldItalic.fntdata"/><Relationship Id="rId27" Type="http://schemas.openxmlformats.org/officeDocument/2006/relationships/font" Target="fonts/SpaceGrotes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13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242244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Exploratory Data Analysis (EDA) &amp; </a:t>
            </a:r>
            <a:r>
              <a:rPr b="1" i="0" lang="en-US" sz="4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Business Intelligence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73685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CD6F6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Analytics Internship — Task 2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4993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Inter"/>
                <a:ea typeface="Inter"/>
                <a:cs typeface="Inter"/>
                <a:sym typeface="Inter"/>
              </a:rPr>
              <a:t>ApexPlanet Pipeline Execution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413775" y="5798400"/>
            <a:ext cx="3985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By : Fatimah Adnan</a:t>
            </a:r>
            <a:endParaRPr sz="28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619750" y="2381250"/>
            <a:ext cx="952500" cy="38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95275" y="2705100"/>
            <a:ext cx="1160145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Exploratory Data Analysis (EDA) &amp; Business Intelligence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44577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Transforming 1,000 raw sales records into actionable business insights.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5500"/>
            <a:ext cx="34924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095500"/>
            <a:ext cx="3492549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095500"/>
            <a:ext cx="34924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Task Objectives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962025" y="3238500"/>
            <a:ext cx="2846918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Descriptive Statistics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62025" y="4067175"/>
            <a:ext cx="2711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Calculating summaries and trends to understand the data's fundamental distribution and layout.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740175" y="3238500"/>
            <a:ext cx="28470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SQL Aggregations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740175" y="3724275"/>
            <a:ext cx="27114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Executing targeted data queries to pull out vital revenue markers and answers directly from the dataset.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18475" y="3238500"/>
            <a:ext cx="284691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KPI Mock-up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518475" y="3724275"/>
            <a:ext cx="2711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Designing a static dashboard framework to structure critical baseline metrics cleanly for leadership review.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5336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175" y="25336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475" y="2533650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 Integrity Summary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4052887" y="1731168"/>
            <a:ext cx="4086225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1,000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052887" y="3483768"/>
            <a:ext cx="4086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Processed Transactions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3714750" y="4298156"/>
            <a:ext cx="5000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Posture Check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3714750" y="4517231"/>
            <a:ext cx="4762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Following the initialization steps, the data files preserve strict column accuracy. Missing entry vectors across fields like `Age` and `City` have been handled cleanly, paving the way for valid correlation models.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85900"/>
            <a:ext cx="110490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Univariate Analysis: Category Lead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52101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**Key Insight:** Electronics holds the clear volume advantage, mapping out over **35%** of all recorded user trends.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43075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90875"/>
            <a:ext cx="533400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SQL Business Intelligence</a:t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2695575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Query:</a:t>
            </a: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Identifying Top Revenue Drivers.</a:t>
            </a:r>
            <a:endParaRPr/>
          </a:p>
        </p:txBody>
      </p:sp>
      <p:pic>
        <p:nvPicPr>
          <p:cNvPr descr="image.png" id="146" name="Google Shape;14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752600"/>
            <a:ext cx="531495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75272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71500" y="4467225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Laptop:</a:t>
            </a: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$25.44M Revenue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4772025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CD6F6"/>
                </a:solidFill>
                <a:latin typeface="Inter"/>
                <a:ea typeface="Inter"/>
                <a:cs typeface="Inter"/>
                <a:sym typeface="Inter"/>
              </a:rPr>
              <a:t>Mobile:</a:t>
            </a: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$25.33M Revenue</a:t>
            </a:r>
            <a:endParaRPr/>
          </a:p>
        </p:txBody>
      </p:sp>
      <p:pic>
        <p:nvPicPr>
          <p:cNvPr descr="image.png" id="150" name="Google Shape;150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5196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2441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4622"/>
            <a:ext cx="2547937" cy="18724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454622"/>
            <a:ext cx="2547937" cy="18724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454622"/>
            <a:ext cx="2547937" cy="18724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2454622"/>
            <a:ext cx="2547937" cy="187240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Average Order Value (AOV) Insights</a:t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4708028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The analysis reveals that **demographic extremes (Youth &amp; Seniors)** actually contribute the highest value per transaction, identifying a key opportunity for premium marketing targeting.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917852" y="2845147"/>
            <a:ext cx="185523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Youth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962025" y="3235672"/>
            <a:ext cx="17668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$144.3k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962025" y="3723233"/>
            <a:ext cx="17668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Highest AOV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3751540" y="2845147"/>
            <a:ext cx="185523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Senior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3795712" y="3235672"/>
            <a:ext cx="17668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$144.2k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3795712" y="3723233"/>
            <a:ext cx="17668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High Margin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585227" y="2845147"/>
            <a:ext cx="185523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Middle Age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629400" y="3235672"/>
            <a:ext cx="17668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$139.2k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629400" y="3723233"/>
            <a:ext cx="17668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Steady Spend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9418915" y="2845147"/>
            <a:ext cx="185523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Young Adult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9463087" y="3235672"/>
            <a:ext cx="17668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$135.9k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9463087" y="3723233"/>
            <a:ext cx="1766887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Vol. Growth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VIP Customer Spotlight (LTV)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4910137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These high-value individuals represent our **Tier 1 Loyalists**. Retaining these customers is critical for maintaining high annual revenue ceilings.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2252662"/>
            <a:ext cx="11049000" cy="2371725"/>
          </a:xfrm>
          <a:prstGeom prst="roundRect">
            <a:avLst>
              <a:gd fmla="val 0" name="adj"/>
            </a:avLst>
          </a:prstGeom>
          <a:solidFill>
            <a:srgbClr val="112240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5" name="Google Shape;185;p20"/>
          <p:cNvGraphicFramePr/>
          <p:nvPr/>
        </p:nvGraphicFramePr>
        <p:xfrm>
          <a:off x="571500" y="2252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{76010828-49A2-4FB1-A70B-26CADEDC26C9}</a:tableStyleId>
              </a:tblPr>
              <a:tblGrid>
                <a:gridCol w="1525050"/>
                <a:gridCol w="3472000"/>
                <a:gridCol w="2352525"/>
                <a:gridCol w="3699425"/>
              </a:tblGrid>
              <a:tr h="59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Customer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64FFD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Lifetime Value ($)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3554"/>
                    </a:solidFill>
                  </a:tcPr>
                </a:tc>
              </a:tr>
              <a:tr h="59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Customer_254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CUST2062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$493,677.50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4FFDA"/>
                    </a:solidFill>
                  </a:tcPr>
                </a:tc>
              </a:tr>
              <a:tr h="59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Customer_200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CUST4706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$492,174.10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Customer_36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CUST1711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CCD6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$490,866.40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" name="Google Shape;186;p20"/>
          <p:cNvSpPr/>
          <p:nvPr/>
        </p:nvSpPr>
        <p:spPr>
          <a:xfrm>
            <a:off x="571500" y="3448050"/>
            <a:ext cx="152504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2096541" y="3448050"/>
            <a:ext cx="347201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568553" y="3448050"/>
            <a:ext cx="235252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7921079" y="3448050"/>
            <a:ext cx="3699420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71500" y="4029075"/>
            <a:ext cx="152504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2096541" y="4029075"/>
            <a:ext cx="347201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568553" y="4029075"/>
            <a:ext cx="235252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7921079" y="4029075"/>
            <a:ext cx="3699420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71500" y="4610100"/>
            <a:ext cx="152504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2096541" y="4610100"/>
            <a:ext cx="347201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568553" y="4610100"/>
            <a:ext cx="235252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7921079" y="4610100"/>
            <a:ext cx="3699420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Monthly Revenue Trends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4981575"/>
            <a:ext cx="11049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Arial"/>
                <a:ea typeface="Arial"/>
                <a:cs typeface="Arial"/>
                <a:sym typeface="Arial"/>
              </a:rPr>
              <a:t>Jan '25Mar (Peak)JunSepDec '25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54387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**March 2025** peaked at **$13.06M**, showing a significant seasonal spike in purchasing activity.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971550" y="3164234"/>
            <a:ext cx="476250" cy="1703040"/>
          </a:xfrm>
          <a:prstGeom prst="rect">
            <a:avLst/>
          </a:prstGeom>
          <a:solidFill>
            <a:srgbClr val="64FFDA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1861691" y="2738437"/>
            <a:ext cx="476250" cy="2128837"/>
          </a:xfrm>
          <a:prstGeom prst="rect">
            <a:avLst/>
          </a:prstGeom>
          <a:solidFill>
            <a:srgbClr val="64FFDA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2751832" y="2028825"/>
            <a:ext cx="476250" cy="2838450"/>
          </a:xfrm>
          <a:prstGeom prst="rect">
            <a:avLst/>
          </a:prstGeom>
          <a:solidFill>
            <a:srgbClr val="64FFDA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3641973" y="2312789"/>
            <a:ext cx="476250" cy="2554485"/>
          </a:xfrm>
          <a:prstGeom prst="rect">
            <a:avLst/>
          </a:prstGeom>
          <a:solidFill>
            <a:srgbClr val="64FFDA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532114" y="2596604"/>
            <a:ext cx="476250" cy="2270670"/>
          </a:xfrm>
          <a:prstGeom prst="rect">
            <a:avLst/>
          </a:prstGeom>
          <a:solidFill>
            <a:srgbClr val="64FFDA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5422255" y="2170807"/>
            <a:ext cx="476250" cy="2696467"/>
          </a:xfrm>
          <a:prstGeom prst="rect">
            <a:avLst/>
          </a:prstGeom>
          <a:solidFill>
            <a:srgbClr val="64FFDA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6312396" y="2454622"/>
            <a:ext cx="476250" cy="2412652"/>
          </a:xfrm>
          <a:prstGeom prst="rect">
            <a:avLst/>
          </a:prstGeom>
          <a:solidFill>
            <a:srgbClr val="64FFDA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7202537" y="2880419"/>
            <a:ext cx="476250" cy="1986855"/>
          </a:xfrm>
          <a:prstGeom prst="rect">
            <a:avLst/>
          </a:prstGeom>
          <a:solidFill>
            <a:srgbClr val="64FFDA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8092678" y="3022401"/>
            <a:ext cx="476250" cy="1844873"/>
          </a:xfrm>
          <a:prstGeom prst="rect">
            <a:avLst/>
          </a:prstGeom>
          <a:solidFill>
            <a:srgbClr val="64FFDA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8982819" y="2255936"/>
            <a:ext cx="476250" cy="2611338"/>
          </a:xfrm>
          <a:prstGeom prst="rect">
            <a:avLst/>
          </a:prstGeom>
          <a:solidFill>
            <a:srgbClr val="64FFDA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9872960" y="2199233"/>
            <a:ext cx="476250" cy="2668041"/>
          </a:xfrm>
          <a:prstGeom prst="rect">
            <a:avLst/>
          </a:prstGeom>
          <a:solidFill>
            <a:srgbClr val="64FFDA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10763101" y="2312789"/>
            <a:ext cx="476250" cy="2554485"/>
          </a:xfrm>
          <a:prstGeom prst="rect">
            <a:avLst/>
          </a:prstGeom>
          <a:solidFill>
            <a:srgbClr val="64FFDA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8809"/>
            <a:ext cx="261937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1375" y="1668809"/>
            <a:ext cx="261937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1668809"/>
            <a:ext cx="261937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25" y="1668809"/>
            <a:ext cx="261937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11809"/>
            <a:ext cx="54292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2811809"/>
            <a:ext cx="54292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34375" y="3335684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Static Dashboard Proposal</a:t>
            </a:r>
            <a:endParaRPr/>
          </a:p>
        </p:txBody>
      </p:sp>
      <p:sp>
        <p:nvSpPr>
          <p:cNvPr id="232" name="Google Shape;232;p22"/>
          <p:cNvSpPr/>
          <p:nvPr/>
        </p:nvSpPr>
        <p:spPr>
          <a:xfrm>
            <a:off x="571500" y="571500"/>
            <a:ext cx="47625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571500" y="5859809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This dashboard mock-up represents the critical KPIs proposed for tracking sales health moving forward.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762000" y="1897409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TOTAL REVENUE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762000" y="2059334"/>
            <a:ext cx="22383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$159.4M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3571875" y="1897409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TOTAL ORDERS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3571875" y="2059334"/>
            <a:ext cx="22383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1,000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6381750" y="1897409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AVG BASKET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6381750" y="2059334"/>
            <a:ext cx="22383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$159k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9191625" y="1897409"/>
            <a:ext cx="2238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TOP REGION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9191625" y="2059334"/>
            <a:ext cx="22383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Patna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762000" y="3002309"/>
            <a:ext cx="53006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Revenue by Category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381750" y="3002309"/>
            <a:ext cx="53006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Regional Share</a:t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781050" y="3335684"/>
            <a:ext cx="381000" cy="14097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1257300" y="3899594"/>
            <a:ext cx="381000" cy="845790"/>
          </a:xfrm>
          <a:prstGeom prst="rect">
            <a:avLst/>
          </a:prstGeom>
          <a:solidFill>
            <a:srgbClr val="CCD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1733550" y="4040534"/>
            <a:ext cx="381000" cy="704850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2209800" y="4111079"/>
            <a:ext cx="381000" cy="63430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295275" y="2350740"/>
            <a:ext cx="116014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Any Questions?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571500" y="322704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Exploratory Data Analysis (EDA) &amp; Business Intelligence — Task 2 Complete.</a:t>
            </a:r>
            <a:endParaRPr/>
          </a:p>
        </p:txBody>
      </p:sp>
      <p:pic>
        <p:nvPicPr>
          <p:cNvPr descr="image.png" id="255" name="Google Shape;25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3975" y="3722340"/>
            <a:ext cx="3714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2338741" y="4293850"/>
            <a:ext cx="3561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https://github.com/fatimahadnan230/ApexPlanet-Data-Analytics-Internship/tree/main</a:t>
            </a:r>
            <a:endParaRPr sz="105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57" name="Google Shape;25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6575" y="372234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6267310" y="4103350"/>
            <a:ext cx="3711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05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http://www.linkedin.com/in/fatimah-adnan-02118a325</a:t>
            </a:r>
            <a:endParaRPr sz="105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